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a409273d4e48a9" /><Relationship Type="http://schemas.openxmlformats.org/officeDocument/2006/relationships/extended-properties" Target="/docProps/app.xml" Id="Re82e4c0c59d94ee9" /><Relationship Type="http://schemas.openxmlformats.org/officeDocument/2006/relationships/officeDocument" Target="/ppt/presentation.xml" Id="R382486cf97fc4a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13fdc9065741aa"/>
  </p:sldMasterIdLst>
  <p:notesMasterIdLst>
    <p:notesMasterId xmlns:r="http://schemas.openxmlformats.org/officeDocument/2006/relationships" r:id="Rc270dc89367944a5"/>
  </p:notesMasterIdLst>
  <p:sldIdLst>
    <p:sldId xmlns:r="http://schemas.openxmlformats.org/officeDocument/2006/relationships" id="256" r:id="Rf9d9dcaeb03748ba"/>
    <p:sldId xmlns:r="http://schemas.openxmlformats.org/officeDocument/2006/relationships" id="257" r:id="R8e6b2b64e481453f"/>
    <p:sldId xmlns:r="http://schemas.openxmlformats.org/officeDocument/2006/relationships" id="258" r:id="R1845b9d4ac5d444e"/>
    <p:sldId xmlns:r="http://schemas.openxmlformats.org/officeDocument/2006/relationships" id="259" r:id="Rac2528ef3bbf4576"/>
    <p:sldId xmlns:r="http://schemas.openxmlformats.org/officeDocument/2006/relationships" id="260" r:id="R22fad6fb44184770"/>
    <p:sldId xmlns:r="http://schemas.openxmlformats.org/officeDocument/2006/relationships" id="261" r:id="Re3acd2e9459548be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3fb24cb1f9409f" /><Relationship Type="http://schemas.openxmlformats.org/officeDocument/2006/relationships/slideMaster" Target="/ppt/slideMasters/slideMaster1.xml" Id="Rd813fdc9065741aa" /><Relationship Type="http://schemas.openxmlformats.org/officeDocument/2006/relationships/notesMaster" Target="/ppt/notesMasters/notesMaster1.xml" Id="Rc270dc89367944a5" /><Relationship Type="http://schemas.openxmlformats.org/officeDocument/2006/relationships/presProps" Target="/ppt/presProps.xml" Id="R09ae47eb84ec4f2e" /><Relationship Type="http://schemas.openxmlformats.org/officeDocument/2006/relationships/tableStyles" Target="/ppt/tableStyles.xml" Id="R90f805bc9ad64393" /><Relationship Type="http://schemas.openxmlformats.org/officeDocument/2006/relationships/slide" Target="/ppt/slides/slide1.xml" Id="Rf9d9dcaeb03748ba" /><Relationship Type="http://schemas.openxmlformats.org/officeDocument/2006/relationships/slide" Target="/ppt/slides/slide2.xml" Id="R8e6b2b64e481453f" /><Relationship Type="http://schemas.openxmlformats.org/officeDocument/2006/relationships/slide" Target="/ppt/slides/slide3.xml" Id="R1845b9d4ac5d444e" /><Relationship Type="http://schemas.openxmlformats.org/officeDocument/2006/relationships/slide" Target="/ppt/slides/slide4.xml" Id="Rac2528ef3bbf4576" /><Relationship Type="http://schemas.openxmlformats.org/officeDocument/2006/relationships/slide" Target="/ppt/slides/slide5.xml" Id="R22fad6fb44184770" /><Relationship Type="http://schemas.openxmlformats.org/officeDocument/2006/relationships/slide" Target="/ppt/slides/slide6.xml" Id="Re3acd2e9459548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8e4e52d3c143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d0f151782f4338" /><Relationship Type="http://schemas.openxmlformats.org/officeDocument/2006/relationships/notesMaster" Target="/ppt/notesMasters/notesMaster1.xml" Id="R400f3ca58a714d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04f9cb6fdd4ba6" /><Relationship Type="http://schemas.openxmlformats.org/officeDocument/2006/relationships/notesMaster" Target="/ppt/notesMasters/notesMaster1.xml" Id="Rf2d15aa4071242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ce5f01abd48fe" /><Relationship Type="http://schemas.openxmlformats.org/officeDocument/2006/relationships/notesMaster" Target="/ppt/notesMasters/notesMaster1.xml" Id="Rdd088ea4fd7046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b88dd5288746c2" /><Relationship Type="http://schemas.openxmlformats.org/officeDocument/2006/relationships/notesMaster" Target="/ppt/notesMasters/notesMaster1.xml" Id="R4b18545bd86c47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31e89040124fe4" /><Relationship Type="http://schemas.openxmlformats.org/officeDocument/2006/relationships/notesMaster" Target="/ppt/notesMasters/notesMaster1.xml" Id="R63e44fec1b1b45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a6e9a084b54e4a" /><Relationship Type="http://schemas.openxmlformats.org/officeDocument/2006/relationships/notesMaster" Target="/ppt/notesMasters/notesMaster1.xml" Id="R80153280539342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page. Replace all bracketed copy before publishing.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page. Add primary claim sources before publishing.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page. Add primary claim sources before publishing.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page. Add primary claim sources before publishing.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page. Add primary claim sources before publishing.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page. Add the destination URL and claim sources before publishing.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60d5344cf45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821f3d823e4da6" /><Relationship Type="http://schemas.openxmlformats.org/officeDocument/2006/relationships/slideLayout" Target="/ppt/slideLayouts/slideLayout1.xml" Id="Rc4247b4c04c148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247b4c04c148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95a20a03143d8" /><Relationship Type="http://schemas.openxmlformats.org/officeDocument/2006/relationships/image" Target="/ppt/media/image.png" Id="Rd94068de77194e2a" /><Relationship Type="http://schemas.openxmlformats.org/officeDocument/2006/relationships/image" Target="/ppt/media/image2.png" Id="R93cb1344e1e549be" /><Relationship Type="http://schemas.openxmlformats.org/officeDocument/2006/relationships/notesSlide" Target="/ppt/notesSlides/notesSlide1.xml" Id="R9377c6ab94264c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46d92fcb84337" /><Relationship Type="http://schemas.openxmlformats.org/officeDocument/2006/relationships/image" Target="/ppt/media/image3.png" Id="Re041da8a99c643c2" /><Relationship Type="http://schemas.openxmlformats.org/officeDocument/2006/relationships/image" Target="/ppt/media/image4.png" Id="R677c44c802fb4255" /><Relationship Type="http://schemas.openxmlformats.org/officeDocument/2006/relationships/notesSlide" Target="/ppt/notesSlides/notesSlide2.xml" Id="R40949683a91c48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88e2a58d64dc9" /><Relationship Type="http://schemas.openxmlformats.org/officeDocument/2006/relationships/image" Target="/ppt/media/image5.png" Id="Rf0d9d452c5c64ebf" /><Relationship Type="http://schemas.openxmlformats.org/officeDocument/2006/relationships/image" Target="/ppt/media/image6.png" Id="Rc636ce4e4b3843ef" /><Relationship Type="http://schemas.openxmlformats.org/officeDocument/2006/relationships/notesSlide" Target="/ppt/notesSlides/notesSlide3.xml" Id="R61cdf1be842c4b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772e7cab14460" /><Relationship Type="http://schemas.openxmlformats.org/officeDocument/2006/relationships/image" Target="/ppt/media/image7.png" Id="R5ca9b580e1c64c5f" /><Relationship Type="http://schemas.openxmlformats.org/officeDocument/2006/relationships/image" Target="/ppt/media/image8.png" Id="Rc136055aed5a4549" /><Relationship Type="http://schemas.openxmlformats.org/officeDocument/2006/relationships/notesSlide" Target="/ppt/notesSlides/notesSlide4.xml" Id="R205e6bd9859c45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0f3d734f345a3" /><Relationship Type="http://schemas.openxmlformats.org/officeDocument/2006/relationships/image" Target="/ppt/media/image9.png" Id="R9c88267fa45f4bfd" /><Relationship Type="http://schemas.openxmlformats.org/officeDocument/2006/relationships/image" Target="/ppt/media/image10.png" Id="Rfdf7ccff52384de0" /><Relationship Type="http://schemas.openxmlformats.org/officeDocument/2006/relationships/notesSlide" Target="/ppt/notesSlides/notesSlide5.xml" Id="R882dc15efc9d43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bf7c818d94d20" /><Relationship Type="http://schemas.openxmlformats.org/officeDocument/2006/relationships/image" Target="/ppt/media/image11.png" Id="R28ce652a90e24e57" /><Relationship Type="http://schemas.openxmlformats.org/officeDocument/2006/relationships/image" Target="/ppt/media/image12.png" Id="Rb20cc722e2eb4841" /><Relationship Type="http://schemas.openxmlformats.org/officeDocument/2006/relationships/notesSlide" Target="/ppt/notesSlides/notesSlide6.xml" Id="Rb2c43cc598ea45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corative-orbit-large">
            <a:extLst xmlns:a="http://schemas.openxmlformats.org/drawingml/2006/main">
              <a:ext uri="{FF2B5EF4-FFF2-40B4-BE49-F238E27FC236}">
                <a16:creationId xmlns:a16="http://schemas.microsoft.com/office/drawing/2014/main" id="{168B8AFB-FCB9-43D6-B172-4EF2DBCB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5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orative-orbit-small">
            <a:extLst xmlns:a="http://schemas.openxmlformats.org/drawingml/2006/main">
              <a:ext uri="{FF2B5EF4-FFF2-40B4-BE49-F238E27FC236}">
                <a16:creationId xmlns:a16="http://schemas.microsoft.com/office/drawing/2014/main" id="{2F7AA081-AD93-4592-AE29-CC004D5C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ogo-tile">
            <a:extLst xmlns:a="http://schemas.openxmlformats.org/drawingml/2006/main">
              <a:ext uri="{FF2B5EF4-FFF2-40B4-BE49-F238E27FC236}">
                <a16:creationId xmlns:a16="http://schemas.microsoft.com/office/drawing/2014/main" id="{86F6C200-B93E-4398-9EDF-5575CC4E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068de77194e2a"/>
          <a:stretch xmlns:a="http://schemas.openxmlformats.org/drawingml/2006/main"/>
        </p:blipFill>
        <p:spPr>
          <a:xfrm xmlns:a="http://schemas.openxmlformats.org/drawingml/2006/main">
            <a:off x="762000" y="5905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" name="brand-name">
            <a:extLst xmlns:a="http://schemas.openxmlformats.org/drawingml/2006/main">
              <a:ext uri="{FF2B5EF4-FFF2-40B4-BE49-F238E27FC236}">
                <a16:creationId xmlns:a16="http://schemas.microsoft.com/office/drawing/2014/main" id="{1AAEBCD4-E1C3-4034-9F0D-5FC2850C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6" name="reviewed-date">
            <a:extLst xmlns:a="http://schemas.openxmlformats.org/drawingml/2006/main">
              <a:ext uri="{FF2B5EF4-FFF2-40B4-BE49-F238E27FC236}">
                <a16:creationId xmlns:a16="http://schemas.microsoft.com/office/drawing/2014/main" id="{BC50B7E7-E7E1-4AC4-BF87-A66F7979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86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REVIEWED [DATE]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8CD980F-4E44-4503-8B2A-60998B3E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[TOPIC LABEL]</a:t>
            </a:r>
          </a:p>
        </p:txBody>
      </p:sp>
      <p:sp>
        <p:nvSpPr>
          <p:cNvPr id="8" name="cover-heading">
            <a:extLst xmlns:a="http://schemas.openxmlformats.org/drawingml/2006/main">
              <a:ext uri="{FF2B5EF4-FFF2-40B4-BE49-F238E27FC236}">
                <a16:creationId xmlns:a16="http://schemas.microsoft.com/office/drawing/2014/main" id="{A42AF5E2-F74B-40FC-B883-332A76C0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79533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4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54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A specific hook that makes the value obvious.</a:t>
            </a:r>
          </a:p>
        </p:txBody>
      </p:sp>
      <p:sp>
        <p:nvSpPr>
          <p:cNvPr id="9" name="cover-support">
            <a:extLst xmlns:a="http://schemas.openxmlformats.org/drawingml/2006/main">
              <a:ext uri="{FF2B5EF4-FFF2-40B4-BE49-F238E27FC236}">
                <a16:creationId xmlns:a16="http://schemas.microsoft.com/office/drawing/2014/main" id="{C43AFEAF-085B-4A36-87B7-AEC59DA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6EE7B7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6EE7B7"/>
                </a:solidFill>
                <a:latin typeface="Inter"/>
                <a:ea typeface="Inter"/>
                <a:cs typeface="Inter"/>
              </a:rPr>
              <a:t>Use one exact number, audience or practical outcome.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658F3-FCC8-4AA0-845F-C47A426B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7B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b1344e1e549be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00F2D2D-EF3C-4A86-A862-99A74568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BRIGHTCERT • CYBER ESSENTIALS READINESS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6154C0-7142-4534-87DD-D4705289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 / 6</a:t>
            </a:r>
          </a:p>
        </p:txBody>
      </p:sp>
    </p:spTree>
    <p:extLst>
      <p:ext uri="{BB962C8B-B14F-4D97-AF65-F5344CB8AC3E}">
        <p14:creationId xmlns:p14="http://schemas.microsoft.com/office/powerpoint/2010/main" val="556439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corative-orbit-large">
            <a:extLst xmlns:a="http://schemas.openxmlformats.org/drawingml/2006/main">
              <a:ext uri="{FF2B5EF4-FFF2-40B4-BE49-F238E27FC236}">
                <a16:creationId xmlns:a16="http://schemas.microsoft.com/office/drawing/2014/main" id="{AB49520A-4734-459F-81C7-7DF75255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orative-orbit-small">
            <a:extLst xmlns:a="http://schemas.openxmlformats.org/drawingml/2006/main">
              <a:ext uri="{FF2B5EF4-FFF2-40B4-BE49-F238E27FC236}">
                <a16:creationId xmlns:a16="http://schemas.microsoft.com/office/drawing/2014/main" id="{3878BDD4-07E4-4D27-A604-5798988F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1da8a99c643c2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brand-name">
            <a:extLst xmlns:a="http://schemas.openxmlformats.org/drawingml/2006/main">
              <a:ext uri="{FF2B5EF4-FFF2-40B4-BE49-F238E27FC236}">
                <a16:creationId xmlns:a16="http://schemas.microsoft.com/office/drawing/2014/main" id="{B86A382A-FB3D-451A-AFB9-EB43F0A0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E68AC92-02EB-43D9-AFAF-CF899066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DIRECT ANSWER</a:t>
            </a:r>
          </a:p>
        </p:txBody>
      </p:sp>
      <p:sp>
        <p:nvSpPr>
          <p:cNvPr id="6" name="answer-heading">
            <a:extLst xmlns:a="http://schemas.openxmlformats.org/drawingml/2006/main">
              <a:ext uri="{FF2B5EF4-FFF2-40B4-BE49-F238E27FC236}">
                <a16:creationId xmlns:a16="http://schemas.microsoft.com/office/drawing/2014/main" id="{66536266-72AE-4FA5-9941-5446620D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82391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8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State the answer in one plain-English sentence.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A9C0B-5193-486E-941A-68DED672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47857"/>
            </a:solidFill>
            <a:prstDash val="solid"/>
          </a:ln>
        </p:spPr>
      </p:sp>
      <p:sp>
        <p:nvSpPr>
          <p:cNvPr id="8" name="answer-support">
            <a:extLst xmlns:a="http://schemas.openxmlformats.org/drawingml/2006/main">
              <a:ext uri="{FF2B5EF4-FFF2-40B4-BE49-F238E27FC236}">
                <a16:creationId xmlns:a16="http://schemas.microsoft.com/office/drawing/2014/main" id="{ED41ADE3-B643-43F0-B02F-AEBA69D9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Add only the context needed to make the next page useful.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3D991-E84B-46CF-AB05-BCFB91E9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c44c802fb4255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C1F323B-4E47-46ED-A3F3-3A6D168D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BRIGHTCERT • CYBER ESSENTIALS READINESS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16ADB3-A09F-478E-B676-65BBAF5F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19517993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9d452c5c64ebf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033BBD38-F7BA-462B-9CAA-078CEB48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E784280-3D2B-42EC-B939-3798663F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NUMBERED VALUE</a:t>
            </a:r>
          </a:p>
        </p:txBody>
      </p:sp>
      <p:sp>
        <p:nvSpPr>
          <p:cNvPr id="4" name="value-number">
            <a:extLst xmlns:a="http://schemas.openxmlformats.org/drawingml/2006/main">
              <a:ext uri="{FF2B5EF4-FFF2-40B4-BE49-F238E27FC236}">
                <a16:creationId xmlns:a16="http://schemas.microsoft.com/office/drawing/2014/main" id="{C97D4D31-51A3-4507-8EEC-C5798932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0" b="1">
                <a:solidFill>
                  <a:srgbClr val="047857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1250" b="1">
                <a:solidFill>
                  <a:srgbClr val="047857"/>
                </a:solidFill>
                <a:latin typeface="Bricolage Grotesque"/>
                <a:ea typeface="Bricolage Grotesque"/>
                <a:cs typeface="Bricolage Grotesque"/>
              </a:rPr>
              <a:t>01</a:t>
            </a:r>
          </a:p>
        </p:txBody>
      </p:sp>
      <p:sp>
        <p:nvSpPr>
          <p:cNvPr id="5" name="value-heading">
            <a:extLst xmlns:a="http://schemas.openxmlformats.org/drawingml/2006/main">
              <a:ext uri="{FF2B5EF4-FFF2-40B4-BE49-F238E27FC236}">
                <a16:creationId xmlns:a16="http://schemas.microsoft.com/office/drawing/2014/main" id="{B0AF7E66-CEEB-4C74-BC4E-F9860DAA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14625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5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5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One actionable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CE925-BF42-4494-8166-3FBE413B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7" name="value-body">
            <a:extLst xmlns:a="http://schemas.openxmlformats.org/drawingml/2006/main">
              <a:ext uri="{FF2B5EF4-FFF2-40B4-BE49-F238E27FC236}">
                <a16:creationId xmlns:a16="http://schemas.microsoft.com/office/drawing/2014/main" id="{49A370EB-74E6-473E-B522-0C1DEF7E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19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29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Explain what the reader should check, decide or do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F71F2-759E-4BF1-B66C-BADB121B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6ce4e4b3843ef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30B5E37-C264-4F9F-B834-8C2CFC5E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BRIGHTCERT • CYBER ESSENTIALS READINESS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13005C-D659-4A80-B181-2AFA3E8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852588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9b580e1c64c5f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07D7C9D4-805B-4141-81FA-C92AE281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D78D53A-2111-4889-A0AE-E2366493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CHECKLIST OR PROCESS</a:t>
            </a:r>
          </a:p>
        </p:txBody>
      </p:sp>
      <p:sp>
        <p:nvSpPr>
          <p:cNvPr id="4" name="checklist-heading">
            <a:extLst xmlns:a="http://schemas.openxmlformats.org/drawingml/2006/main">
              <a:ext uri="{FF2B5EF4-FFF2-40B4-BE49-F238E27FC236}">
                <a16:creationId xmlns:a16="http://schemas.microsoft.com/office/drawing/2014/main" id="{A51C3CC9-D194-40B6-9092-BDC0B0D7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65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Three things to check</a:t>
            </a:r>
          </a:p>
        </p:txBody>
      </p:sp>
      <p:sp>
        <p:nvSpPr>
          <p:cNvPr id="5" name="check-1">
            <a:extLst xmlns:a="http://schemas.openxmlformats.org/drawingml/2006/main">
              <a:ext uri="{FF2B5EF4-FFF2-40B4-BE49-F238E27FC236}">
                <a16:creationId xmlns:a16="http://schemas.microsoft.com/office/drawing/2014/main" id="{52B85D77-7594-4EB1-A1F8-0E4F28DE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28575">
            <a:solidFill>
              <a:srgbClr val="047857"/>
            </a:solidFill>
            <a:prstDash val="solid"/>
          </a:ln>
        </p:spPr>
      </p:sp>
      <p:sp>
        <p:nvSpPr>
          <p:cNvPr id="6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8C005AEC-7040-4E1F-94E8-7D143052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F2044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0F2044"/>
                </a:solidFill>
                <a:latin typeface="Inter"/>
                <a:ea typeface="Inter"/>
                <a:cs typeface="Inter"/>
              </a:rPr>
              <a:t>First practical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F05A0-868D-4189-A322-E4E6BB9D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340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8" name="check-2">
            <a:extLst xmlns:a="http://schemas.openxmlformats.org/drawingml/2006/main">
              <a:ext uri="{FF2B5EF4-FFF2-40B4-BE49-F238E27FC236}">
                <a16:creationId xmlns:a16="http://schemas.microsoft.com/office/drawing/2014/main" id="{4E6F5371-29FA-4A04-86CF-FE12C747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5334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47857"/>
            </a:solidFill>
            <a:prstDash val="solid"/>
          </a:ln>
        </p:spPr>
      </p:sp>
      <p:sp>
        <p:nvSpPr>
          <p:cNvPr id="9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5BA493DF-7E3B-426A-B4FD-4B563AA1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3627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0">
                <a:solidFill>
                  <a:srgbClr val="0F2044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F2044"/>
                </a:solidFill>
                <a:latin typeface="Inter"/>
                <a:ea typeface="Inter"/>
                <a:cs typeface="Inter"/>
              </a:rPr>
              <a:t>Second practical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5A40B-0776-4998-B032-F23A2657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3533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1" name="check-3">
            <a:extLst xmlns:a="http://schemas.openxmlformats.org/drawingml/2006/main">
              <a:ext uri="{FF2B5EF4-FFF2-40B4-BE49-F238E27FC236}">
                <a16:creationId xmlns:a16="http://schemas.microsoft.com/office/drawing/2014/main" id="{02E0BB45-EC09-46B9-87B5-8B63DFAF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0"/>
            <a:ext cx="5334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47857"/>
            </a:solidFill>
            <a:prstDash val="solid"/>
          </a:ln>
        </p:spPr>
      </p:sp>
      <p:sp>
        <p:nvSpPr>
          <p:cNvPr id="12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276CAA6C-1089-4116-B203-66261CDE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9819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0">
                <a:solidFill>
                  <a:srgbClr val="0F2044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F2044"/>
                </a:solidFill>
                <a:latin typeface="Inter"/>
                <a:ea typeface="Inter"/>
                <a:cs typeface="Inter"/>
              </a:rPr>
              <a:t>Third practical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238A5-3823-4E1A-B246-8BF93C5E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6055aed5a4549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3F9DDF2-720D-464F-B680-E8D3C761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BRIGHTCERT • CYBER ESSENTIALS READINESS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D69F82-EA55-4F0B-AC6B-A528D79F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1882102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8267fa45f4bfd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6E932B71-1B0F-4A34-9467-9F601DBC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A209049-E194-4C83-AC6E-BFEB3FA1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TWO-COLUMN COMPARISON</a:t>
            </a:r>
          </a:p>
        </p:txBody>
      </p:sp>
      <p:sp>
        <p:nvSpPr>
          <p:cNvPr id="4" name="comparison-heading">
            <a:extLst xmlns:a="http://schemas.openxmlformats.org/drawingml/2006/main">
              <a:ext uri="{FF2B5EF4-FFF2-40B4-BE49-F238E27FC236}">
                <a16:creationId xmlns:a16="http://schemas.microsoft.com/office/drawing/2014/main" id="{3E778819-4B54-403A-892B-359F21F4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65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Make the decision obvious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76B68-2D43-44EF-8FFA-DBDBC069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33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6" name="left-option">
            <a:extLst xmlns:a="http://schemas.openxmlformats.org/drawingml/2006/main">
              <a:ext uri="{FF2B5EF4-FFF2-40B4-BE49-F238E27FC236}">
                <a16:creationId xmlns:a16="http://schemas.microsoft.com/office/drawing/2014/main" id="{9D9CF858-6C4A-4B99-BEF1-85EF071E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OPTION A</a:t>
            </a:r>
          </a:p>
        </p:txBody>
      </p:sp>
      <p:sp>
        <p:nvSpPr>
          <p:cNvPr id="7" name="left-detail">
            <a:extLst xmlns:a="http://schemas.openxmlformats.org/drawingml/2006/main">
              <a:ext uri="{FF2B5EF4-FFF2-40B4-BE49-F238E27FC236}">
                <a16:creationId xmlns:a16="http://schemas.microsoft.com/office/drawing/2014/main" id="{0B37EA02-56CE-457A-A044-F7764D10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3714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0">
                <a:solidFill>
                  <a:srgbClr val="0F2044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0F2044"/>
                </a:solidFill>
                <a:latin typeface="Inter"/>
                <a:ea typeface="Inter"/>
                <a:cs typeface="Inter"/>
              </a:rPr>
              <a:t>Use this when...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700" b="0">
                <a:solidFill>
                  <a:srgbClr val="0F2044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0F2044"/>
                </a:solidFill>
                <a:latin typeface="Inter"/>
                <a:ea typeface="Inter"/>
                <a:cs typeface="Inter"/>
              </a:rPr>
              <a:t>• Clear point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700" b="0">
                <a:solidFill>
                  <a:srgbClr val="0F2044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0F2044"/>
                </a:solidFill>
                <a:latin typeface="Inter"/>
                <a:ea typeface="Inter"/>
                <a:cs typeface="Inter"/>
              </a:rPr>
              <a:t>• Clear point</a:t>
            </a:r>
          </a:p>
        </p:txBody>
      </p:sp>
      <p:sp>
        <p:nvSpPr>
          <p:cNvPr id="8" name="right-option">
            <a:extLst xmlns:a="http://schemas.openxmlformats.org/drawingml/2006/main">
              <a:ext uri="{FF2B5EF4-FFF2-40B4-BE49-F238E27FC236}">
                <a16:creationId xmlns:a16="http://schemas.microsoft.com/office/drawing/2014/main" id="{4FF0644E-60F0-4EA7-A471-DEEC926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OPTION B</a:t>
            </a:r>
          </a:p>
        </p:txBody>
      </p:sp>
      <p:sp>
        <p:nvSpPr>
          <p:cNvPr id="9" name="right-detail">
            <a:extLst xmlns:a="http://schemas.openxmlformats.org/drawingml/2006/main">
              <a:ext uri="{FF2B5EF4-FFF2-40B4-BE49-F238E27FC236}">
                <a16:creationId xmlns:a16="http://schemas.microsoft.com/office/drawing/2014/main" id="{109A3117-9E23-49AC-AB78-B0641D8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72125"/>
            <a:ext cx="3714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0">
                <a:solidFill>
                  <a:srgbClr val="0F2044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0F2044"/>
                </a:solidFill>
                <a:latin typeface="Inter"/>
                <a:ea typeface="Inter"/>
                <a:cs typeface="Inter"/>
              </a:rPr>
              <a:t>Use this when...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700" b="0">
                <a:solidFill>
                  <a:srgbClr val="0F2044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0F2044"/>
                </a:solidFill>
                <a:latin typeface="Inter"/>
                <a:ea typeface="Inter"/>
                <a:cs typeface="Inter"/>
              </a:rPr>
              <a:t>• Clear point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700" b="0">
                <a:solidFill>
                  <a:srgbClr val="0F2044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0F2044"/>
                </a:solidFill>
                <a:latin typeface="Inter"/>
                <a:ea typeface="Inter"/>
                <a:cs typeface="Inter"/>
              </a:rPr>
              <a:t>• Clear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4D401-3CFE-4A21-A736-692ABC5A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7ccff52384de0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4873BE6-B208-43F8-B403-4188E81A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BRIGHTCERT • CYBER ESSENTIALS READINESS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803B42-94A3-4407-BF30-18A925A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1122159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2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corative-orbit-large">
            <a:extLst xmlns:a="http://schemas.openxmlformats.org/drawingml/2006/main">
              <a:ext uri="{FF2B5EF4-FFF2-40B4-BE49-F238E27FC236}">
                <a16:creationId xmlns:a16="http://schemas.microsoft.com/office/drawing/2014/main" id="{27F13E04-4844-4EF3-BDC8-9CFAD4C1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5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orative-orbit-small">
            <a:extLst xmlns:a="http://schemas.openxmlformats.org/drawingml/2006/main">
              <a:ext uri="{FF2B5EF4-FFF2-40B4-BE49-F238E27FC236}">
                <a16:creationId xmlns:a16="http://schemas.microsoft.com/office/drawing/2014/main" id="{369B2459-811E-419C-BEDC-DB9BA417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ogo-tile">
            <a:extLst xmlns:a="http://schemas.openxmlformats.org/drawingml/2006/main">
              <a:ext uri="{FF2B5EF4-FFF2-40B4-BE49-F238E27FC236}">
                <a16:creationId xmlns:a16="http://schemas.microsoft.com/office/drawing/2014/main" id="{158BB11B-44D1-416A-B041-29FD7CA1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e652a90e24e57"/>
          <a:stretch xmlns:a="http://schemas.openxmlformats.org/drawingml/2006/main"/>
        </p:blipFill>
        <p:spPr>
          <a:xfrm xmlns:a="http://schemas.openxmlformats.org/drawingml/2006/main">
            <a:off x="762000" y="5905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" name="brand-name">
            <a:extLst xmlns:a="http://schemas.openxmlformats.org/drawingml/2006/main">
              <a:ext uri="{FF2B5EF4-FFF2-40B4-BE49-F238E27FC236}">
                <a16:creationId xmlns:a16="http://schemas.microsoft.com/office/drawing/2014/main" id="{CF117993-7933-4970-B458-946865AC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10453220-247D-47A6-8449-A303B5F3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NEXT STEP</a:t>
            </a:r>
          </a:p>
        </p:txBody>
      </p:sp>
      <p:sp>
        <p:nvSpPr>
          <p:cNvPr id="7" name="cta-heading">
            <a:extLst xmlns:a="http://schemas.openxmlformats.org/drawingml/2006/main">
              <a:ext uri="{FF2B5EF4-FFF2-40B4-BE49-F238E27FC236}">
                <a16:creationId xmlns:a16="http://schemas.microsoft.com/office/drawing/2014/main" id="{2538CF93-CAED-429B-AB2B-11DAFC26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51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Choose one useful next step.</a:t>
            </a:r>
          </a:p>
        </p:txBody>
      </p:sp>
      <p:sp>
        <p:nvSpPr>
          <p:cNvPr id="8" name="cta-link">
            <a:extLst xmlns:a="http://schemas.openxmlformats.org/drawingml/2006/main">
              <a:ext uri="{FF2B5EF4-FFF2-40B4-BE49-F238E27FC236}">
                <a16:creationId xmlns:a16="http://schemas.microsoft.com/office/drawing/2014/main" id="{4E2E010D-74BC-43F7-82D6-AFE4CDFF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[READ THE GUIDE OR START THE ASSESSMENT]</a:t>
            </a:r>
          </a:p>
        </p:txBody>
      </p:sp>
      <p:sp>
        <p:nvSpPr>
          <p:cNvPr id="9" name="cta-disclaimer">
            <a:extLst xmlns:a="http://schemas.openxmlformats.org/drawingml/2006/main">
              <a:ext uri="{FF2B5EF4-FFF2-40B4-BE49-F238E27FC236}">
                <a16:creationId xmlns:a16="http://schemas.microsoft.com/office/drawing/2014/main" id="{5A1BF37C-D151-4877-AE8B-722822C4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0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4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BrightCert helps organisations prepare for Cyber Essentials. It does not issue certification.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C34B0-DFFE-4ACC-A9A9-1DB174AF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7B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cc722e2eb4841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076E78F-355E-41E4-952E-EDF3D33F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6EE7B7"/>
                </a:solidFill>
                <a:latin typeface="JetBrains Mono"/>
                <a:ea typeface="JetBrains Mono"/>
                <a:cs typeface="JetBrains Mono"/>
              </a:rPr>
              <a:t>BRIGHTCERT • CYBER ESSENTIALS READINESS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9DFCE6-8319-44CE-8398-F0AEA02E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 / 6</a:t>
            </a:r>
          </a:p>
        </p:txBody>
      </p:sp>
    </p:spTree>
    <p:extLst>
      <p:ext uri="{BB962C8B-B14F-4D97-AF65-F5344CB8AC3E}">
        <p14:creationId xmlns:p14="http://schemas.microsoft.com/office/powerpoint/2010/main" val="1560544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2026-07-29T22:05:34.4690000Z</dcterms:created>
  <dcterms:modified xsi:type="dcterms:W3CDTF">2026-07-29T22:05:34.4690000Z</dcterms:modified>
</coreProperties>
</file>