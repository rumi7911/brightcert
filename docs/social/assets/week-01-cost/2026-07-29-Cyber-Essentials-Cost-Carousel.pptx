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4ee33666446ed" /><Relationship Type="http://schemas.openxmlformats.org/officeDocument/2006/relationships/extended-properties" Target="/docProps/app.xml" Id="R9e1e701579a34ebd" /><Relationship Type="http://schemas.openxmlformats.org/officeDocument/2006/relationships/officeDocument" Target="/ppt/presentation.xml" Id="R5c7f1851c9f942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d06f9cd77a4bdb"/>
  </p:sldMasterIdLst>
  <p:notesMasterIdLst>
    <p:notesMasterId xmlns:r="http://schemas.openxmlformats.org/officeDocument/2006/relationships" r:id="R2241dd077c4b4995"/>
  </p:notesMasterIdLst>
  <p:sldIdLst>
    <p:sldId xmlns:r="http://schemas.openxmlformats.org/officeDocument/2006/relationships" id="256" r:id="Rf12b9d21a1e84f1e"/>
    <p:sldId xmlns:r="http://schemas.openxmlformats.org/officeDocument/2006/relationships" id="257" r:id="R57be4f1e4d764bbb"/>
    <p:sldId xmlns:r="http://schemas.openxmlformats.org/officeDocument/2006/relationships" id="258" r:id="R95431446d7b34bf3"/>
    <p:sldId xmlns:r="http://schemas.openxmlformats.org/officeDocument/2006/relationships" id="259" r:id="R13a8e502b9b5437e"/>
    <p:sldId xmlns:r="http://schemas.openxmlformats.org/officeDocument/2006/relationships" id="260" r:id="R6234c9c3ab0c4f89"/>
    <p:sldId xmlns:r="http://schemas.openxmlformats.org/officeDocument/2006/relationships" id="261" r:id="Ra952cb6748c345ff"/>
    <p:sldId xmlns:r="http://schemas.openxmlformats.org/officeDocument/2006/relationships" id="262" r:id="R6722f00c159b4d5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f52820571c424c" /><Relationship Type="http://schemas.openxmlformats.org/officeDocument/2006/relationships/slideMaster" Target="/ppt/slideMasters/slideMaster1.xml" Id="Rcdd06f9cd77a4bdb" /><Relationship Type="http://schemas.openxmlformats.org/officeDocument/2006/relationships/notesMaster" Target="/ppt/notesMasters/notesMaster1.xml" Id="R2241dd077c4b4995" /><Relationship Type="http://schemas.openxmlformats.org/officeDocument/2006/relationships/presProps" Target="/ppt/presProps.xml" Id="Ra4759f0555164951" /><Relationship Type="http://schemas.openxmlformats.org/officeDocument/2006/relationships/tableStyles" Target="/ppt/tableStyles.xml" Id="R4614d6b2884841b7" /><Relationship Type="http://schemas.openxmlformats.org/officeDocument/2006/relationships/slide" Target="/ppt/slides/slide1.xml" Id="Rf12b9d21a1e84f1e" /><Relationship Type="http://schemas.openxmlformats.org/officeDocument/2006/relationships/slide" Target="/ppt/slides/slide2.xml" Id="R57be4f1e4d764bbb" /><Relationship Type="http://schemas.openxmlformats.org/officeDocument/2006/relationships/slide" Target="/ppt/slides/slide3.xml" Id="R95431446d7b34bf3" /><Relationship Type="http://schemas.openxmlformats.org/officeDocument/2006/relationships/slide" Target="/ppt/slides/slide4.xml" Id="R13a8e502b9b5437e" /><Relationship Type="http://schemas.openxmlformats.org/officeDocument/2006/relationships/slide" Target="/ppt/slides/slide5.xml" Id="R6234c9c3ab0c4f89" /><Relationship Type="http://schemas.openxmlformats.org/officeDocument/2006/relationships/slide" Target="/ppt/slides/slide6.xml" Id="Ra952cb6748c345ff" /><Relationship Type="http://schemas.openxmlformats.org/officeDocument/2006/relationships/slide" Target="/ppt/slides/slide7.xml" Id="R6722f00c159b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a3d1cd848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cf25b0f5c94574" /><Relationship Type="http://schemas.openxmlformats.org/officeDocument/2006/relationships/notesMaster" Target="/ppt/notesMasters/notesMaster1.xml" Id="R01828aafad034a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cd3cb9af1b44dc" /><Relationship Type="http://schemas.openxmlformats.org/officeDocument/2006/relationships/notesMaster" Target="/ppt/notesMasters/notesMaster1.xml" Id="R39afc475101d45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186d11fcc4777" /><Relationship Type="http://schemas.openxmlformats.org/officeDocument/2006/relationships/notesMaster" Target="/ppt/notesMasters/notesMaster1.xml" Id="R16c704622a1648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d9598908534be3" /><Relationship Type="http://schemas.openxmlformats.org/officeDocument/2006/relationships/notesMaster" Target="/ppt/notesMasters/notesMaster1.xml" Id="R747bf51f2956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5459abbde44fbb" /><Relationship Type="http://schemas.openxmlformats.org/officeDocument/2006/relationships/notesMaster" Target="/ppt/notesMasters/notesMaster1.xml" Id="Rd56c620155674a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58ff163fe4b3c" /><Relationship Type="http://schemas.openxmlformats.org/officeDocument/2006/relationships/notesMaster" Target="/ppt/notesMasters/notesMaster1.xml" Id="Rad741196973f47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55fdd9a6bf492b" /><Relationship Type="http://schemas.openxmlformats.org/officeDocument/2006/relationships/notesMaster" Target="/ppt/notesMasters/notesMaster1.xml" Id="Re173982f10dd4b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  <a:p xmlns:a="http://schemas.openxmlformats.org/drawingml/2006/main">
            <a:r>
              <a:t>- https://brightcert.co.uk/blog/cyber-essentials-cost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  <a:p xmlns:a="http://schemas.openxmlformats.org/drawingml/2006/main">
            <a:r>
              <a:t>- https://brightcert.co.uk/blog/cyber-essentials-cost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  <a:p xmlns:a="http://schemas.openxmlformats.org/drawingml/2006/main">
            <a:r>
              <a:t>- https://brightcert.co.uk/blog/cyber-essentials-cost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48ef6b7a040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4b3d84a2c544e0" /><Relationship Type="http://schemas.openxmlformats.org/officeDocument/2006/relationships/slideLayout" Target="/ppt/slideLayouts/slideLayout1.xml" Id="R21c5a7fa6610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c5a7fa6610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fa4554f7c4fd3" /><Relationship Type="http://schemas.openxmlformats.org/officeDocument/2006/relationships/image" Target="/ppt/media/image.png" Id="R3095c4e4173f4993" /><Relationship Type="http://schemas.openxmlformats.org/officeDocument/2006/relationships/image" Target="/ppt/media/image2.png" Id="R7c471e71fe0549a1" /><Relationship Type="http://schemas.openxmlformats.org/officeDocument/2006/relationships/notesSlide" Target="/ppt/notesSlides/notesSlide1.xml" Id="Rb36f29194ea344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d3d56c75e4320" /><Relationship Type="http://schemas.openxmlformats.org/officeDocument/2006/relationships/image" Target="/ppt/media/image3.png" Id="R9fe78a4e0fae4516" /><Relationship Type="http://schemas.openxmlformats.org/officeDocument/2006/relationships/image" Target="/ppt/media/image4.png" Id="R0b40ad61e223454e" /><Relationship Type="http://schemas.openxmlformats.org/officeDocument/2006/relationships/notesSlide" Target="/ppt/notesSlides/notesSlide2.xml" Id="Raaff36f51b59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b758aa15b459d" /><Relationship Type="http://schemas.openxmlformats.org/officeDocument/2006/relationships/image" Target="/ppt/media/image5.png" Id="R0746551c24da4051" /><Relationship Type="http://schemas.openxmlformats.org/officeDocument/2006/relationships/image" Target="/ppt/media/image6.png" Id="Ra6041722009c4c5d" /><Relationship Type="http://schemas.openxmlformats.org/officeDocument/2006/relationships/notesSlide" Target="/ppt/notesSlides/notesSlide3.xml" Id="R191463775a984a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68c7676874a12" /><Relationship Type="http://schemas.openxmlformats.org/officeDocument/2006/relationships/image" Target="/ppt/media/image7.png" Id="Ree5cf03ce243488c" /><Relationship Type="http://schemas.openxmlformats.org/officeDocument/2006/relationships/image" Target="/ppt/media/image8.png" Id="R46c4f5fa14664864" /><Relationship Type="http://schemas.openxmlformats.org/officeDocument/2006/relationships/notesSlide" Target="/ppt/notesSlides/notesSlide4.xml" Id="R415bc753ea23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1a0bfe1f49c0" /><Relationship Type="http://schemas.openxmlformats.org/officeDocument/2006/relationships/image" Target="/ppt/media/image9.png" Id="Rd77af33c50d44b66" /><Relationship Type="http://schemas.openxmlformats.org/officeDocument/2006/relationships/image" Target="/ppt/media/image10.png" Id="Rfa6932d477be43f8" /><Relationship Type="http://schemas.openxmlformats.org/officeDocument/2006/relationships/notesSlide" Target="/ppt/notesSlides/notesSlide5.xml" Id="R5dbf550de86a43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e9acea219474e" /><Relationship Type="http://schemas.openxmlformats.org/officeDocument/2006/relationships/image" Target="/ppt/media/image11.png" Id="Rc375a316f5634818" /><Relationship Type="http://schemas.openxmlformats.org/officeDocument/2006/relationships/image" Target="/ppt/media/image12.png" Id="R4d5f07bafd944d86" /><Relationship Type="http://schemas.openxmlformats.org/officeDocument/2006/relationships/notesSlide" Target="/ppt/notesSlides/notesSlide6.xml" Id="R4ddc1b1d7e674a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592d5f0424665" /><Relationship Type="http://schemas.openxmlformats.org/officeDocument/2006/relationships/image" Target="/ppt/media/image13.png" Id="Rf995e8f09a654943" /><Relationship Type="http://schemas.openxmlformats.org/officeDocument/2006/relationships/hyperlink" Target="https://brightcert.co.uk/blog/cyber-essentials-cost" TargetMode="External" Id="R86fce3a0709148ad" /><Relationship Type="http://schemas.openxmlformats.org/officeDocument/2006/relationships/image" Target="/ppt/media/image14.png" Id="R4002156d054742bf" /><Relationship Type="http://schemas.openxmlformats.org/officeDocument/2006/relationships/notesSlide" Target="/ppt/notesSlides/notesSlide7.xml" Id="Rc1adfde6d8ac46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corative-orbit-large">
            <a:extLst xmlns:a="http://schemas.openxmlformats.org/drawingml/2006/main">
              <a:ext uri="{FF2B5EF4-FFF2-40B4-BE49-F238E27FC236}">
                <a16:creationId xmlns:a16="http://schemas.microsoft.com/office/drawing/2014/main" id="{0393DF1B-9790-4BBB-82A0-C724EB2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5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rative-orbit-small">
            <a:extLst xmlns:a="http://schemas.openxmlformats.org/drawingml/2006/main">
              <a:ext uri="{FF2B5EF4-FFF2-40B4-BE49-F238E27FC236}">
                <a16:creationId xmlns:a16="http://schemas.microsoft.com/office/drawing/2014/main" id="{46CF3FF2-10BB-4165-AAEE-DA923054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go-tile">
            <a:extLst xmlns:a="http://schemas.openxmlformats.org/drawingml/2006/main">
              <a:ext uri="{FF2B5EF4-FFF2-40B4-BE49-F238E27FC236}">
                <a16:creationId xmlns:a16="http://schemas.microsoft.com/office/drawing/2014/main" id="{B993ED1A-FC8E-464F-AEB3-A971888D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5c4e4173f4993"/>
          <a:stretch xmlns:a="http://schemas.openxmlformats.org/drawingml/2006/main"/>
        </p:blipFill>
        <p:spPr>
          <a:xfrm xmlns:a="http://schemas.openxmlformats.org/drawingml/2006/main">
            <a:off x="762000" y="5905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brand-name">
            <a:extLst xmlns:a="http://schemas.openxmlformats.org/drawingml/2006/main">
              <a:ext uri="{FF2B5EF4-FFF2-40B4-BE49-F238E27FC236}">
                <a16:creationId xmlns:a16="http://schemas.microsoft.com/office/drawing/2014/main" id="{611F2652-0A65-4B04-BA65-E3A99B4D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6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2AEEE29C-EAA7-4504-8306-BCF76CC7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3ABE5F1-CA54-42D8-ABCA-76616637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CYBER ESSENTIALS COST • UK 2026</a:t>
            </a:r>
          </a:p>
        </p:txBody>
      </p:sp>
      <p:sp>
        <p:nvSpPr>
          <p:cNvPr id="8" name="cover-range">
            <a:extLst xmlns:a="http://schemas.openxmlformats.org/drawingml/2006/main">
              <a:ext uri="{FF2B5EF4-FFF2-40B4-BE49-F238E27FC236}">
                <a16:creationId xmlns:a16="http://schemas.microsoft.com/office/drawing/2014/main" id="{7AD2347E-9174-4D8F-B265-0C5CBDC7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239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84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84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£320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84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84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TO £600</a:t>
            </a:r>
          </a:p>
        </p:txBody>
      </p:sp>
      <p:sp>
        <p:nvSpPr>
          <p:cNvPr id="9" name="cover-heading">
            <a:extLst xmlns:a="http://schemas.openxmlformats.org/drawingml/2006/main">
              <a:ext uri="{FF2B5EF4-FFF2-40B4-BE49-F238E27FC236}">
                <a16:creationId xmlns:a16="http://schemas.microsoft.com/office/drawing/2014/main" id="{31EBCE0B-CD6F-4A84-94A1-8B8DCBC1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6EE7B7"/>
                </a:solidFill>
                <a:latin typeface="Inter"/>
                <a:ea typeface="Inter"/>
                <a:cs typeface="Inter"/>
              </a:defRPr>
            </a:pPr>
            <a:r>
              <a:rPr sz="3375" b="1">
                <a:solidFill>
                  <a:srgbClr val="6EE7B7"/>
                </a:solidFill>
                <a:latin typeface="Inter"/>
                <a:ea typeface="Inter"/>
                <a:cs typeface="Inter"/>
              </a:rPr>
              <a:t>The exact Cyber Essentials fee for your team size.</a:t>
            </a:r>
          </a:p>
        </p:txBody>
      </p:sp>
      <p:sp>
        <p:nvSpPr>
          <p:cNvPr id="10" name="vat-note">
            <a:extLst xmlns:a="http://schemas.openxmlformats.org/drawingml/2006/main">
              <a:ext uri="{FF2B5EF4-FFF2-40B4-BE49-F238E27FC236}">
                <a16:creationId xmlns:a16="http://schemas.microsoft.com/office/drawing/2014/main" id="{785EBAB0-072B-4B10-B31C-A5711559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+ VAT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5A6CC-2409-4802-ACFE-89CCB9C9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7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71e71fe0549a1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B6D9F09-B2DC-4C54-909F-7F0820D4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F192E4-4519-40CA-9C80-511F880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474376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corative-orbit-large">
            <a:extLst xmlns:a="http://schemas.openxmlformats.org/drawingml/2006/main">
              <a:ext uri="{FF2B5EF4-FFF2-40B4-BE49-F238E27FC236}">
                <a16:creationId xmlns:a16="http://schemas.microsoft.com/office/drawing/2014/main" id="{99FDB217-1A60-4265-AC55-8DA68A3F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rative-orbit-small">
            <a:extLst xmlns:a="http://schemas.openxmlformats.org/drawingml/2006/main">
              <a:ext uri="{FF2B5EF4-FFF2-40B4-BE49-F238E27FC236}">
                <a16:creationId xmlns:a16="http://schemas.microsoft.com/office/drawing/2014/main" id="{612F9DD6-699F-4071-97E7-B6760482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8a4e0fae4516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brand-name">
            <a:extLst xmlns:a="http://schemas.openxmlformats.org/drawingml/2006/main">
              <a:ext uri="{FF2B5EF4-FFF2-40B4-BE49-F238E27FC236}">
                <a16:creationId xmlns:a16="http://schemas.microsoft.com/office/drawing/2014/main" id="{76E55911-C76D-4AEA-9A24-2FFE3A86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5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5BF57365-4CC1-4CC0-B8F4-4BF4540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DC4CDE3-F579-418A-AC7C-496C0246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THE DIRECT ANSWER</a:t>
            </a:r>
          </a:p>
        </p:txBody>
      </p:sp>
      <p:sp>
        <p:nvSpPr>
          <p:cNvPr id="7" name="answer-heading">
            <a:extLst xmlns:a="http://schemas.openxmlformats.org/drawingml/2006/main">
              <a:ext uri="{FF2B5EF4-FFF2-40B4-BE49-F238E27FC236}">
                <a16:creationId xmlns:a16="http://schemas.microsoft.com/office/drawing/2014/main" id="{6AB6E162-831B-4234-9579-710F22FE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90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95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95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The official fee is based on employee 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691F8-4623-479E-8457-D31CEBED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047857"/>
            </a:solidFill>
            <a:prstDash val="solid"/>
          </a:ln>
        </p:spPr>
      </p:sp>
      <p:sp>
        <p:nvSpPr>
          <p:cNvPr id="9" name="answer-detail">
            <a:extLst xmlns:a="http://schemas.openxmlformats.org/drawingml/2006/main">
              <a:ext uri="{FF2B5EF4-FFF2-40B4-BE49-F238E27FC236}">
                <a16:creationId xmlns:a16="http://schemas.microsoft.com/office/drawing/2014/main" id="{76ECE0AA-3567-4924-A7B6-87210F1C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620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Preparation time and remediation are separate costs.</a:t>
            </a:r>
          </a:p>
        </p:txBody>
      </p:sp>
      <p:sp>
        <p:nvSpPr>
          <p:cNvPr id="10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41114F5A-5BC7-4596-8C85-E0465FC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BUDGET = ASSESSMENT + PREPARATION + REMEDIATION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44CE5-B18E-4F51-8344-B8251B34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0ad61e223454e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5EE26DA-D861-4CF0-A05E-8D6CA532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29E80F-8C86-4F0E-AD13-19CD3AFE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859082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6551c24da4051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C54DE240-63D8-446D-AEC3-2B5D5DA0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8DAEF679-4E8B-40D7-9C9E-5B093E44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A1382E4-04C5-4C87-BF9C-AA7996FC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MICRO ORGANISATION</a:t>
            </a:r>
          </a:p>
        </p:txBody>
      </p:sp>
      <p:sp>
        <p:nvSpPr>
          <p:cNvPr id="5" name="employee-band">
            <a:extLst xmlns:a="http://schemas.openxmlformats.org/drawingml/2006/main">
              <a:ext uri="{FF2B5EF4-FFF2-40B4-BE49-F238E27FC236}">
                <a16:creationId xmlns:a16="http://schemas.microsoft.com/office/drawing/2014/main" id="{A55392DE-A55F-46C7-939C-55E326F8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0 TO 9 EMPLOYEES</a:t>
            </a:r>
          </a:p>
        </p:txBody>
      </p:sp>
      <p:sp>
        <p:nvSpPr>
          <p:cNvPr id="6" name="fee-value">
            <a:extLst xmlns:a="http://schemas.openxmlformats.org/drawingml/2006/main">
              <a:ext uri="{FF2B5EF4-FFF2-40B4-BE49-F238E27FC236}">
                <a16:creationId xmlns:a16="http://schemas.microsoft.com/office/drawing/2014/main" id="{43F21826-3969-4E82-B77A-5B43AC8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£320</a:t>
            </a:r>
          </a:p>
        </p:txBody>
      </p:sp>
      <p:sp>
        <p:nvSpPr>
          <p:cNvPr id="7" name="vat">
            <a:extLst xmlns:a="http://schemas.openxmlformats.org/drawingml/2006/main">
              <a:ext uri="{FF2B5EF4-FFF2-40B4-BE49-F238E27FC236}">
                <a16:creationId xmlns:a16="http://schemas.microsoft.com/office/drawing/2014/main" id="{6F31F798-8AD1-4B06-A254-CED9CC1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+ VAT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8BF6B-83E2-440C-BF10-69AAB533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9" name="meaning">
            <a:extLst xmlns:a="http://schemas.openxmlformats.org/drawingml/2006/main">
              <a:ext uri="{FF2B5EF4-FFF2-40B4-BE49-F238E27FC236}">
                <a16:creationId xmlns:a16="http://schemas.microsoft.com/office/drawing/2014/main" id="{53A2287C-E1BA-4422-9270-356485B7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34375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Official Cyber Essentials assessment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C07CB-36FA-40A8-A71D-D499DCA0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41722009c4c5d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65806F5-5F73-448C-A860-BF2AC3BD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AAC455-FFF2-472F-BBF9-4B383737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400580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cf03ce243488c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082A7608-ADB6-48E0-9679-39D51208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E5B2308C-F4D1-4E98-AD4F-A1EE5108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120A8FE-96F7-4A07-8515-1B1E89A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SMALL ORGANISATION</a:t>
            </a:r>
          </a:p>
        </p:txBody>
      </p:sp>
      <p:sp>
        <p:nvSpPr>
          <p:cNvPr id="5" name="employee-band">
            <a:extLst xmlns:a="http://schemas.openxmlformats.org/drawingml/2006/main">
              <a:ext uri="{FF2B5EF4-FFF2-40B4-BE49-F238E27FC236}">
                <a16:creationId xmlns:a16="http://schemas.microsoft.com/office/drawing/2014/main" id="{17E54079-2E6D-4950-BE6E-4D1C2A4D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10 TO 49 EMPLOYEES</a:t>
            </a:r>
          </a:p>
        </p:txBody>
      </p:sp>
      <p:sp>
        <p:nvSpPr>
          <p:cNvPr id="6" name="fee-value">
            <a:extLst xmlns:a="http://schemas.openxmlformats.org/drawingml/2006/main">
              <a:ext uri="{FF2B5EF4-FFF2-40B4-BE49-F238E27FC236}">
                <a16:creationId xmlns:a16="http://schemas.microsoft.com/office/drawing/2014/main" id="{17B00BF8-EFEA-477A-ACC5-7382E6CE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£440</a:t>
            </a:r>
          </a:p>
        </p:txBody>
      </p:sp>
      <p:sp>
        <p:nvSpPr>
          <p:cNvPr id="7" name="vat">
            <a:extLst xmlns:a="http://schemas.openxmlformats.org/drawingml/2006/main">
              <a:ext uri="{FF2B5EF4-FFF2-40B4-BE49-F238E27FC236}">
                <a16:creationId xmlns:a16="http://schemas.microsoft.com/office/drawing/2014/main" id="{C95D6828-BA38-44AE-BB05-F0BCC85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+ VAT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9CE17-CC7F-4B0B-88B9-F14D9B5C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9" name="meaning">
            <a:extLst xmlns:a="http://schemas.openxmlformats.org/drawingml/2006/main">
              <a:ext uri="{FF2B5EF4-FFF2-40B4-BE49-F238E27FC236}">
                <a16:creationId xmlns:a16="http://schemas.microsoft.com/office/drawing/2014/main" id="{7FDB158A-C1C6-41FD-B126-9E08ADDF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34375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Official Cyber Essentials assessment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98131-DCE6-4523-8B40-A4C0FE2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4f5fa14664864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95B48FC-C443-4A4D-A013-48A3D752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E431D7-1311-433C-85BF-617DDA7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636998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af33c50d44b66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D1D6A14C-C2ED-4660-AE5D-2B3BE6A9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68A7E752-5745-4FB3-986E-F7A9059A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5E5A77F-2AE3-41A4-A3E7-60FB78EB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MEDIUM ORGANISATION</a:t>
            </a:r>
          </a:p>
        </p:txBody>
      </p:sp>
      <p:sp>
        <p:nvSpPr>
          <p:cNvPr id="5" name="employee-band">
            <a:extLst xmlns:a="http://schemas.openxmlformats.org/drawingml/2006/main">
              <a:ext uri="{FF2B5EF4-FFF2-40B4-BE49-F238E27FC236}">
                <a16:creationId xmlns:a16="http://schemas.microsoft.com/office/drawing/2014/main" id="{8BF590B9-0328-4B04-B25F-4CA89EA1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50 TO 249 EMPLOYEES</a:t>
            </a:r>
          </a:p>
        </p:txBody>
      </p:sp>
      <p:sp>
        <p:nvSpPr>
          <p:cNvPr id="6" name="fee-value">
            <a:extLst xmlns:a="http://schemas.openxmlformats.org/drawingml/2006/main">
              <a:ext uri="{FF2B5EF4-FFF2-40B4-BE49-F238E27FC236}">
                <a16:creationId xmlns:a16="http://schemas.microsoft.com/office/drawing/2014/main" id="{913343F3-B489-4BD1-86CD-AC311C2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£500</a:t>
            </a:r>
          </a:p>
        </p:txBody>
      </p:sp>
      <p:sp>
        <p:nvSpPr>
          <p:cNvPr id="7" name="vat">
            <a:extLst xmlns:a="http://schemas.openxmlformats.org/drawingml/2006/main">
              <a:ext uri="{FF2B5EF4-FFF2-40B4-BE49-F238E27FC236}">
                <a16:creationId xmlns:a16="http://schemas.microsoft.com/office/drawing/2014/main" id="{C0DB1441-F50D-438F-886C-A14605DA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+ VAT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E8DC0-5373-4F81-B7C3-E27B03E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9" name="meaning">
            <a:extLst xmlns:a="http://schemas.openxmlformats.org/drawingml/2006/main">
              <a:ext uri="{FF2B5EF4-FFF2-40B4-BE49-F238E27FC236}">
                <a16:creationId xmlns:a16="http://schemas.microsoft.com/office/drawing/2014/main" id="{71DB7BDB-3A4F-44B8-A3AB-6747A0E5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34375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Official Cyber Essentials assessment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DA5A2-9FBF-446F-A714-FAFD1832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932d477be43f8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519DDB6-F44B-4ACA-9AB8-C9A5DC7C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4D37BE-77BD-47B6-8761-765A104E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305245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5a316f5634818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0E0AF9A7-0A83-428F-9F0A-44FDA1C5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200FF837-1E3A-4F88-83B1-491EC382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A5CD4EE-F159-4956-9247-C99B8513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LARGE ORGANISATION</a:t>
            </a:r>
          </a:p>
        </p:txBody>
      </p:sp>
      <p:sp>
        <p:nvSpPr>
          <p:cNvPr id="5" name="employee-band">
            <a:extLst xmlns:a="http://schemas.openxmlformats.org/drawingml/2006/main">
              <a:ext uri="{FF2B5EF4-FFF2-40B4-BE49-F238E27FC236}">
                <a16:creationId xmlns:a16="http://schemas.microsoft.com/office/drawing/2014/main" id="{480F42E7-2681-4DB8-9AF7-31384907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250 OR MORE EMPLOYEES</a:t>
            </a:r>
          </a:p>
        </p:txBody>
      </p:sp>
      <p:sp>
        <p:nvSpPr>
          <p:cNvPr id="6" name="fee-value">
            <a:extLst xmlns:a="http://schemas.openxmlformats.org/drawingml/2006/main">
              <a:ext uri="{FF2B5EF4-FFF2-40B4-BE49-F238E27FC236}">
                <a16:creationId xmlns:a16="http://schemas.microsoft.com/office/drawing/2014/main" id="{36072DB1-6A18-4632-84C6-74FB58E3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32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£600</a:t>
            </a:r>
          </a:p>
        </p:txBody>
      </p:sp>
      <p:sp>
        <p:nvSpPr>
          <p:cNvPr id="7" name="vat">
            <a:extLst xmlns:a="http://schemas.openxmlformats.org/drawingml/2006/main">
              <a:ext uri="{FF2B5EF4-FFF2-40B4-BE49-F238E27FC236}">
                <a16:creationId xmlns:a16="http://schemas.microsoft.com/office/drawing/2014/main" id="{145C94C6-DC38-4C66-9DB4-F9038B7A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+ VAT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BD357-0EC0-4247-916C-751AF87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9" name="meaning">
            <a:extLst xmlns:a="http://schemas.openxmlformats.org/drawingml/2006/main">
              <a:ext uri="{FF2B5EF4-FFF2-40B4-BE49-F238E27FC236}">
                <a16:creationId xmlns:a16="http://schemas.microsoft.com/office/drawing/2014/main" id="{ABCE3181-7BA5-43B9-821B-AEDA0C48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34375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Official Cyber Essentials assessment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D5FC3-0A04-410F-863A-998A187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f07bafd944d86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DCF9760-33E0-49EA-92F3-1BD68E5D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DA4E39-7FDA-47E8-A730-BBBED5DB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937368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2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ecorative-orbit-large">
            <a:extLst xmlns:a="http://schemas.openxmlformats.org/drawingml/2006/main">
              <a:ext uri="{FF2B5EF4-FFF2-40B4-BE49-F238E27FC236}">
                <a16:creationId xmlns:a16="http://schemas.microsoft.com/office/drawing/2014/main" id="{7A93F62F-587E-40D4-90F0-711012E6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5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rative-orbit-small">
            <a:extLst xmlns:a="http://schemas.openxmlformats.org/drawingml/2006/main">
              <a:ext uri="{FF2B5EF4-FFF2-40B4-BE49-F238E27FC236}">
                <a16:creationId xmlns:a16="http://schemas.microsoft.com/office/drawing/2014/main" id="{299E2676-85D3-4B53-8660-7EAD8FC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go-tile">
            <a:extLst xmlns:a="http://schemas.openxmlformats.org/drawingml/2006/main">
              <a:ext uri="{FF2B5EF4-FFF2-40B4-BE49-F238E27FC236}">
                <a16:creationId xmlns:a16="http://schemas.microsoft.com/office/drawing/2014/main" id="{D4AFC97C-B877-4320-A0A3-896E8447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5e8f09a654943"/>
          <a:stretch xmlns:a="http://schemas.openxmlformats.org/drawingml/2006/main"/>
        </p:blipFill>
        <p:spPr>
          <a:xfrm xmlns:a="http://schemas.openxmlformats.org/drawingml/2006/main">
            <a:off x="762000" y="5905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brand-name">
            <a:extLst xmlns:a="http://schemas.openxmlformats.org/drawingml/2006/main">
              <a:ext uri="{FF2B5EF4-FFF2-40B4-BE49-F238E27FC236}">
                <a16:creationId xmlns:a16="http://schemas.microsoft.com/office/drawing/2014/main" id="{7DEC7DB4-EF9F-4DCD-8614-34BC803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6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F5AD7057-26C6-4245-86D4-62FA5AD8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D9EBD928-5EA9-4C45-B611-3192A58C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BUDGET THE WHOLE JOB</a:t>
            </a:r>
          </a:p>
        </p:txBody>
      </p:sp>
      <p:sp>
        <p:nvSpPr>
          <p:cNvPr id="8" name="close-heading">
            <a:extLst xmlns:a="http://schemas.openxmlformats.org/drawingml/2006/main">
              <a:ext uri="{FF2B5EF4-FFF2-40B4-BE49-F238E27FC236}">
                <a16:creationId xmlns:a16="http://schemas.microsoft.com/office/drawing/2014/main" id="{D2E07087-3B4B-4ABE-860C-C490059A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9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9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Plan for three separate costs.</a:t>
            </a:r>
          </a:p>
        </p:txBody>
      </p:sp>
      <p:sp>
        <p:nvSpPr>
          <p:cNvPr id="9" name="budget-number-1">
            <a:extLst xmlns:a="http://schemas.openxmlformats.org/drawingml/2006/main">
              <a:ext uri="{FF2B5EF4-FFF2-40B4-BE49-F238E27FC236}">
                <a16:creationId xmlns:a16="http://schemas.microsoft.com/office/drawing/2014/main" id="{2FEB32C0-59EA-476F-8C6D-C373D57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0" name="budget-label-1">
            <a:extLst xmlns:a="http://schemas.openxmlformats.org/drawingml/2006/main">
              <a:ext uri="{FF2B5EF4-FFF2-40B4-BE49-F238E27FC236}">
                <a16:creationId xmlns:a16="http://schemas.microsoft.com/office/drawing/2014/main" id="{650C396F-8184-4F73-904C-24434E6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530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official assessment fee</a:t>
            </a:r>
          </a:p>
        </p:txBody>
      </p:sp>
      <p:sp>
        <p:nvSpPr>
          <p:cNvPr id="11" name="budget-number-2">
            <a:extLst xmlns:a="http://schemas.openxmlformats.org/drawingml/2006/main">
              <a:ext uri="{FF2B5EF4-FFF2-40B4-BE49-F238E27FC236}">
                <a16:creationId xmlns:a16="http://schemas.microsoft.com/office/drawing/2014/main" id="{AFC495C4-518D-4559-B226-E91BA7D7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2" name="budget-label-2">
            <a:extLst xmlns:a="http://schemas.openxmlformats.org/drawingml/2006/main">
              <a:ext uri="{FF2B5EF4-FFF2-40B4-BE49-F238E27FC236}">
                <a16:creationId xmlns:a16="http://schemas.microsoft.com/office/drawing/2014/main" id="{7CC2CBD1-D531-4903-890F-2D7C6868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0769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Time spent preparing</a:t>
            </a:r>
          </a:p>
        </p:txBody>
      </p:sp>
      <p:sp>
        <p:nvSpPr>
          <p:cNvPr id="13" name="budget-number-3">
            <a:extLst xmlns:a="http://schemas.openxmlformats.org/drawingml/2006/main">
              <a:ext uri="{FF2B5EF4-FFF2-40B4-BE49-F238E27FC236}">
                <a16:creationId xmlns:a16="http://schemas.microsoft.com/office/drawing/2014/main" id="{BDCA418D-4110-4441-A183-849A346F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4" name="budget-label-3">
            <a:extLst xmlns:a="http://schemas.openxmlformats.org/drawingml/2006/main">
              <a:ext uri="{FF2B5EF4-FFF2-40B4-BE49-F238E27FC236}">
                <a16:creationId xmlns:a16="http://schemas.microsoft.com/office/drawing/2014/main" id="{E450DB29-AB73-499C-A5A8-6E6C7AC8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2009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Any remediation required</a:t>
            </a:r>
          </a:p>
        </p:txBody>
      </p:sp>
      <p:sp>
        <p:nvSpPr>
          <p:cNvPr id="15" name="guide-link">
            <a:extLst xmlns:a="http://schemas.openxmlformats.org/drawingml/2006/main">
              <a:ext uri="{FF2B5EF4-FFF2-40B4-BE49-F238E27FC236}">
                <a16:creationId xmlns:a16="http://schemas.microsoft.com/office/drawing/2014/main" id="{BFC804F1-06EF-4DB1-B707-F2E7F2D2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  <a:hlinkClick xmlns:r="http://schemas.openxmlformats.org/officeDocument/2006/relationships" r:id="R86fce3a0709148ad"/>
              </a:rPr>
              <a:t>READ THE FULL COST GUIDE</a:t>
            </a:r>
          </a:p>
        </p:txBody>
      </p:sp>
      <p:sp>
        <p:nvSpPr>
          <p:cNvPr id="16" name="disclaimer">
            <a:extLst xmlns:a="http://schemas.openxmlformats.org/drawingml/2006/main">
              <a:ext uri="{FF2B5EF4-FFF2-40B4-BE49-F238E27FC236}">
                <a16:creationId xmlns:a16="http://schemas.microsoft.com/office/drawing/2014/main" id="{6E85FACC-ABAF-45AC-BEC2-A1662B2E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6787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BrightCert helps organisations prepare for Cyber Essentials. It does not issue certification.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A390A-AE1A-4A3F-BD9E-70F33E0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7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2156d054742bf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78932A9-D69A-452E-9B51-CD0899E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9CA729-1726-46A3-AA3F-7C205EA5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750270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2026-07-29T22:05:35.0370000Z</dcterms:created>
  <dcterms:modified xsi:type="dcterms:W3CDTF">2026-07-29T22:05:35.0370000Z</dcterms:modified>
</coreProperties>
</file>