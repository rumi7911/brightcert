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52873fbeb144c3" /><Relationship Type="http://schemas.openxmlformats.org/officeDocument/2006/relationships/extended-properties" Target="/docProps/app.xml" Id="Rbb7f1c82010b42e1" /><Relationship Type="http://schemas.openxmlformats.org/officeDocument/2006/relationships/officeDocument" Target="/ppt/presentation.xml" Id="R044d4a37f72b43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a98cac4c3944ba"/>
  </p:sldMasterIdLst>
  <p:notesMasterIdLst>
    <p:notesMasterId xmlns:r="http://schemas.openxmlformats.org/officeDocument/2006/relationships" r:id="Rad1de080531d4566"/>
  </p:notesMasterIdLst>
  <p:sldIdLst>
    <p:sldId xmlns:r="http://schemas.openxmlformats.org/officeDocument/2006/relationships" id="256" r:id="R0c4f3bd5ad1d46c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9793acc7694402" /><Relationship Type="http://schemas.openxmlformats.org/officeDocument/2006/relationships/slideMaster" Target="/ppt/slideMasters/slideMaster1.xml" Id="R23a98cac4c3944ba" /><Relationship Type="http://schemas.openxmlformats.org/officeDocument/2006/relationships/notesMaster" Target="/ppt/notesMasters/notesMaster1.xml" Id="Rad1de080531d4566" /><Relationship Type="http://schemas.openxmlformats.org/officeDocument/2006/relationships/presProps" Target="/ppt/presProps.xml" Id="R1b3eaaf6fbd345c4" /><Relationship Type="http://schemas.openxmlformats.org/officeDocument/2006/relationships/tableStyles" Target="/ppt/tableStyles.xml" Id="R65ec325c1abc4038" /><Relationship Type="http://schemas.openxmlformats.org/officeDocument/2006/relationships/slide" Target="/ppt/slides/slide1.xml" Id="R0c4f3bd5ad1d46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f588de42e44d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c14478c444301" /><Relationship Type="http://schemas.openxmlformats.org/officeDocument/2006/relationships/notesMaster" Target="/ppt/notesMasters/notesMaster1.xml" Id="Rafbc0d73ee4041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https://iasme.co.uk/cyber-essentials/frequently-asked-questions/ (retrieved 29 July 2026)</a:t>
            </a:r>
          </a:p>
          <a:p xmlns:a="http://schemas.openxmlformats.org/drawingml/2006/main">
            <a:r>
              <a:t>- https://brightcert.co.uk/blog/cyber-essentials-cost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11c46d1b849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2fa89b1b24e26" /><Relationship Type="http://schemas.openxmlformats.org/officeDocument/2006/relationships/slideLayout" Target="/ppt/slideLayouts/slideLayout1.xml" Id="R641e1065db52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1e1065db52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67ebe06754524" /><Relationship Type="http://schemas.openxmlformats.org/officeDocument/2006/relationships/image" Target="/ppt/media/image.png" Id="R027414eb73e94852" /><Relationship Type="http://schemas.openxmlformats.org/officeDocument/2006/relationships/image" Target="/ppt/media/image2.png" Id="R9ba73c3db9d145d9" /><Relationship Type="http://schemas.openxmlformats.org/officeDocument/2006/relationships/notesSlide" Target="/ppt/notesSlides/notesSlide1.xml" Id="Rb9fc53ddf4e44c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414eb73e94852"/>
          <a:stretch xmlns:a="http://schemas.openxmlformats.org/drawingml/2006/main"/>
        </p:blipFill>
        <p:spPr>
          <a:xfrm xmlns:a="http://schemas.openxmlformats.org/drawingml/2006/main">
            <a:off x="685800" y="51435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" name="brand-name">
            <a:extLst xmlns:a="http://schemas.openxmlformats.org/drawingml/2006/main">
              <a:ext uri="{FF2B5EF4-FFF2-40B4-BE49-F238E27FC236}">
                <a16:creationId xmlns:a16="http://schemas.microsoft.com/office/drawing/2014/main" id="{728C7A0D-6481-41D9-9C90-13C3EC74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19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2025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BrightCert</a:t>
            </a:r>
          </a:p>
        </p:txBody>
      </p:sp>
      <p:sp>
        <p:nvSpPr>
          <p:cNvPr id="3" name="reviewed-date">
            <a:extLst xmlns:a="http://schemas.openxmlformats.org/drawingml/2006/main">
              <a:ext uri="{FF2B5EF4-FFF2-40B4-BE49-F238E27FC236}">
                <a16:creationId xmlns:a16="http://schemas.microsoft.com/office/drawing/2014/main" id="{6B7B1C70-2878-462E-B158-909E33A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28650"/>
            <a:ext cx="2714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REVIEWED 29 JULY 2026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E7BB384-29E9-4F3F-ADCC-78595735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CYBER ESSENTIALS COST • UK 2026</a:t>
            </a:r>
          </a:p>
        </p:txBody>
      </p:sp>
      <p:sp>
        <p:nvSpPr>
          <p:cNvPr id="5" name="derivative-heading">
            <a:extLst xmlns:a="http://schemas.openxmlformats.org/drawingml/2006/main">
              <a:ext uri="{FF2B5EF4-FFF2-40B4-BE49-F238E27FC236}">
                <a16:creationId xmlns:a16="http://schemas.microsoft.com/office/drawing/2014/main" id="{DAD8B595-019C-4F3D-BEA8-91280704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001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45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The four official fee bands</a:t>
            </a:r>
          </a:p>
        </p:txBody>
      </p:sp>
      <p:sp>
        <p:nvSpPr>
          <p:cNvPr id="6" name="derivative-people-1">
            <a:extLst xmlns:a="http://schemas.openxmlformats.org/drawingml/2006/main">
              <a:ext uri="{FF2B5EF4-FFF2-40B4-BE49-F238E27FC236}">
                <a16:creationId xmlns:a16="http://schemas.microsoft.com/office/drawing/2014/main" id="{F230ACC4-1915-4268-B19A-535430F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0 TO 9 EMPLOYEES</a:t>
            </a:r>
          </a:p>
        </p:txBody>
      </p:sp>
      <p:sp>
        <p:nvSpPr>
          <p:cNvPr id="7" name="derivative-fee-1">
            <a:extLst xmlns:a="http://schemas.openxmlformats.org/drawingml/2006/main">
              <a:ext uri="{FF2B5EF4-FFF2-40B4-BE49-F238E27FC236}">
                <a16:creationId xmlns:a16="http://schemas.microsoft.com/office/drawing/2014/main" id="{B818ABBE-EC3B-4590-90E7-A65A4F9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£320 + VAT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FD179-948E-40DD-8FC2-DC107DA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9" name="derivative-people-2">
            <a:extLst xmlns:a="http://schemas.openxmlformats.org/drawingml/2006/main">
              <a:ext uri="{FF2B5EF4-FFF2-40B4-BE49-F238E27FC236}">
                <a16:creationId xmlns:a16="http://schemas.microsoft.com/office/drawing/2014/main" id="{CD32E7F0-9056-4875-AD31-1CFD2582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10 TO 49 EMPLOYEES</a:t>
            </a:r>
          </a:p>
        </p:txBody>
      </p:sp>
      <p:sp>
        <p:nvSpPr>
          <p:cNvPr id="10" name="derivative-fee-2">
            <a:extLst xmlns:a="http://schemas.openxmlformats.org/drawingml/2006/main">
              <a:ext uri="{FF2B5EF4-FFF2-40B4-BE49-F238E27FC236}">
                <a16:creationId xmlns:a16="http://schemas.microsoft.com/office/drawing/2014/main" id="{3EE5CEDF-42D0-4B0C-8251-96AB24E1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6737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£440 + VAT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35E5E-A793-4ED0-A854-7B1E0C8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2" name="derivative-people-3">
            <a:extLst xmlns:a="http://schemas.openxmlformats.org/drawingml/2006/main">
              <a:ext uri="{FF2B5EF4-FFF2-40B4-BE49-F238E27FC236}">
                <a16:creationId xmlns:a16="http://schemas.microsoft.com/office/drawing/2014/main" id="{8FB2F41A-D88F-4781-B7EB-E54875F8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104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50 TO 249 EMPLOYEES</a:t>
            </a:r>
          </a:p>
        </p:txBody>
      </p:sp>
      <p:sp>
        <p:nvSpPr>
          <p:cNvPr id="13" name="derivative-fee-3">
            <a:extLst xmlns:a="http://schemas.openxmlformats.org/drawingml/2006/main">
              <a:ext uri="{FF2B5EF4-FFF2-40B4-BE49-F238E27FC236}">
                <a16:creationId xmlns:a16="http://schemas.microsoft.com/office/drawing/2014/main" id="{01EF0ECB-A312-48D3-8335-9B9D0430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23900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£500 + VAT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3F4AC-1649-4713-A1F7-E8BB2E02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6295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derivative-people-4">
            <a:extLst xmlns:a="http://schemas.openxmlformats.org/drawingml/2006/main">
              <a:ext uri="{FF2B5EF4-FFF2-40B4-BE49-F238E27FC236}">
                <a16:creationId xmlns:a16="http://schemas.microsoft.com/office/drawing/2014/main" id="{1A25B953-75AA-458F-BA83-371CAD20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8207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defRPr>
            </a:pPr>
            <a:r>
              <a:rPr sz="1650" b="1">
                <a:solidFill>
                  <a:srgbClr val="047857"/>
                </a:solidFill>
                <a:latin typeface="JetBrains Mono"/>
                <a:ea typeface="JetBrains Mono"/>
                <a:cs typeface="JetBrains Mono"/>
              </a:rPr>
              <a:t>250+ EMPLOYEES</a:t>
            </a:r>
          </a:p>
        </p:txBody>
      </p:sp>
      <p:sp>
        <p:nvSpPr>
          <p:cNvPr id="16" name="derivative-fee-4">
            <a:extLst xmlns:a="http://schemas.openxmlformats.org/drawingml/2006/main">
              <a:ext uri="{FF2B5EF4-FFF2-40B4-BE49-F238E27FC236}">
                <a16:creationId xmlns:a16="http://schemas.microsoft.com/office/drawing/2014/main" id="{68E80441-05D2-49F2-B233-F709ACEE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810625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defRPr>
            </a:pPr>
            <a:r>
              <a:rPr sz="3900" b="1">
                <a:solidFill>
                  <a:srgbClr val="0F2044"/>
                </a:solidFill>
                <a:latin typeface="Bricolage Grotesque"/>
                <a:ea typeface="Bricolage Grotesque"/>
                <a:cs typeface="Bricolage Grotesque"/>
              </a:rPr>
              <a:t>£600 + VAT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3F725-D16B-44E4-B0D8-D8205AAE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49100"/>
            <a:ext cx="891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73c3db9d145d9"/>
          <a:stretch xmlns:a="http://schemas.openxmlformats.org/drawingml/2006/main"/>
        </p:blipFill>
        <p:spPr>
          <a:xfrm xmlns:a="http://schemas.openxmlformats.org/drawingml/2006/main">
            <a:off x="685800" y="120205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25B3762-A071-4222-9BED-D9828131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1">
                <a:solidFill>
                  <a:srgbClr val="475569"/>
                </a:solidFill>
                <a:latin typeface="JetBrains Mono"/>
                <a:ea typeface="JetBrains Mono"/>
                <a:cs typeface="JetBrains Mono"/>
              </a:rPr>
              <a:t>SOURCE: IASME • REVIEWED 29 JUL 2026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8D5A19-EFDF-480B-9E0F-DA58D67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20015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0F2044"/>
                </a:solidFill>
                <a:latin typeface="JetBrains Mono"/>
                <a:ea typeface="JetBrains Mono"/>
                <a:cs typeface="JetBrains Mono"/>
              </a:rPr>
              <a:t>1 / 1</a:t>
            </a:r>
          </a:p>
        </p:txBody>
      </p:sp>
    </p:spTree>
    <p:extLst>
      <p:ext uri="{BB962C8B-B14F-4D97-AF65-F5344CB8AC3E}">
        <p14:creationId xmlns:p14="http://schemas.microsoft.com/office/powerpoint/2010/main" val="1600632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2026-07-29T22:05:35.2190000Z</dcterms:created>
  <dcterms:modified xsi:type="dcterms:W3CDTF">2026-07-29T22:05:35.2190000Z</dcterms:modified>
</coreProperties>
</file>